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391" r:id="rId7"/>
    <p:sldId id="411" r:id="rId8"/>
    <p:sldId id="406" r:id="rId9"/>
    <p:sldId id="412" r:id="rId10"/>
    <p:sldId id="413" r:id="rId11"/>
    <p:sldId id="414" r:id="rId12"/>
    <p:sldId id="407" r:id="rId13"/>
    <p:sldId id="404" r:id="rId14"/>
    <p:sldId id="398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3A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6327" autoAdjust="0"/>
  </p:normalViewPr>
  <p:slideViewPr>
    <p:cSldViewPr snapToGrid="0">
      <p:cViewPr varScale="1">
        <p:scale>
          <a:sx n="160" d="100"/>
          <a:sy n="160" d="100"/>
        </p:scale>
        <p:origin x="264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2F41AB2A-FCB0-449C-94A2-E3FFDC5F192E}" type="datetime1">
              <a:rPr lang="pt-BR" smtClean="0"/>
              <a:t>17/01/2026</a:t>
            </a:fld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2C230DF-5933-439D-898F-38E9AC9BA688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8" name="Espaço Reservado para Cabeçalh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6F315709-B4D1-47A8-A516-AEABF47ED22D}" type="datetime1">
              <a:rPr lang="pt-BR" smtClean="0"/>
              <a:pPr/>
              <a:t>17/01/2026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A89C7E07-3C67-C64C-8DA0-0404F63039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557F3-B589-3744-6B96-19561951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69CFEE1-2D48-432C-C622-0A67F7AE2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3B8ABC7-4436-4BA4-876C-D59835AF8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793782E-CAD3-4637-B57A-BF07C53FC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31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DF15-6064-4949-9EC6-1FE26CC1A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7724DD4-1DF8-DB97-6FF9-D77D518AC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E33C41F-A66D-E422-7AC7-6DF08C677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BBD5D9E-7564-ABBC-7411-D8C128084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9594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F9E5E-1BFC-A34B-2218-BCF4AD02F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777C2A2-751D-8CB9-060E-A7B4E5B0B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596448B-5126-F99E-498F-7AF256A3C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1A85E1B-0034-E847-CD19-2576E6D7B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9694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9A56-4859-F429-3F1E-383E76B7D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C5B99503-F123-F9A4-4492-8514E45CC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8DACF91-E117-38C2-0BB3-776B74216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9203B25-B26E-0F7C-C4A1-0FDF179C8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508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 spc="50" baseline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pt-B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3" name="Espaço Reservado para o Número do Slid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42" name="Espaço Reservado para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v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9436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8" name="Forma Liv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9" name="Forma Liv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pt-B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pt-B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pt-B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pt-B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endParaRPr lang="pt-BR" dirty="0"/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tabela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v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7" name="Forma Liv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457200" indent="0">
              <a:spcBef>
                <a:spcPts val="1800"/>
              </a:spcBef>
              <a:buNone/>
              <a:defRPr lang="pt-BR" sz="2000"/>
            </a:lvl2pPr>
            <a:lvl3pPr marL="914400" indent="0">
              <a:spcBef>
                <a:spcPts val="1800"/>
              </a:spcBef>
              <a:buNone/>
              <a:defRPr lang="pt-BR" sz="2000"/>
            </a:lvl3pPr>
            <a:lvl4pPr marL="1371600" indent="0">
              <a:spcBef>
                <a:spcPts val="1800"/>
              </a:spcBef>
              <a:buNone/>
              <a:defRPr lang="pt-BR" sz="2000"/>
            </a:lvl4pPr>
            <a:lvl5pPr marL="1828800" indent="0">
              <a:spcBef>
                <a:spcPts val="1800"/>
              </a:spcBef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 dirty="0"/>
              <a:t>Clique para adicionar conteúdo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>
              <a:spcBef>
                <a:spcPts val="18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9" name="Espaço Reservado para Tabe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pt-BR"/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0" name="Espaço Reservado para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32" name="Espaço Reservado para o Número do Slid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pt-BR">
          <a:solidFill>
            <a:schemeClr val="tx2"/>
          </a:solidFill>
        </a:defRPr>
      </a:lvl2pPr>
      <a:lvl3pPr eaLnBrk="1" hangingPunct="1">
        <a:defRPr lang="pt-BR">
          <a:solidFill>
            <a:schemeClr val="tx2"/>
          </a:solidFill>
        </a:defRPr>
      </a:lvl3pPr>
      <a:lvl4pPr eaLnBrk="1" hangingPunct="1">
        <a:defRPr lang="pt-BR">
          <a:solidFill>
            <a:schemeClr val="tx2"/>
          </a:solidFill>
        </a:defRPr>
      </a:lvl4pPr>
      <a:lvl5pPr eaLnBrk="1" hangingPunct="1">
        <a:defRPr lang="pt-BR">
          <a:solidFill>
            <a:schemeClr val="tx2"/>
          </a:solidFill>
        </a:defRPr>
      </a:lvl5pPr>
      <a:lvl6pPr eaLnBrk="1" hangingPunct="1">
        <a:defRPr lang="pt-BR">
          <a:solidFill>
            <a:schemeClr val="tx2"/>
          </a:solidFill>
        </a:defRPr>
      </a:lvl6pPr>
      <a:lvl7pPr eaLnBrk="1" hangingPunct="1">
        <a:defRPr lang="pt-BR">
          <a:solidFill>
            <a:schemeClr val="tx2"/>
          </a:solidFill>
        </a:defRPr>
      </a:lvl7pPr>
      <a:lvl8pPr eaLnBrk="1" hangingPunct="1">
        <a:defRPr lang="pt-BR">
          <a:solidFill>
            <a:schemeClr val="tx2"/>
          </a:solidFill>
        </a:defRPr>
      </a:lvl8pPr>
      <a:lvl9pPr eaLnBrk="1" hangingPunct="1">
        <a:defRPr lang="pt-B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lucasken.ida@gmail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linkedin.com/in/lucasktid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Estudo de Caso</a:t>
            </a:r>
            <a:br>
              <a:rPr lang="pt-BR" dirty="0"/>
            </a:br>
            <a:r>
              <a:rPr lang="pt-BR" dirty="0" err="1"/>
              <a:t>Bellabeat</a:t>
            </a:r>
            <a:endParaRPr lang="pt-BR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8EFF7B-2AD0-0906-97D8-827B5D58AB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4" y="4454018"/>
            <a:ext cx="5486400" cy="1162036"/>
          </a:xfrm>
        </p:spPr>
        <p:txBody>
          <a:bodyPr/>
          <a:lstStyle/>
          <a:p>
            <a:r>
              <a:rPr lang="en-US" dirty="0" err="1"/>
              <a:t>Tranformar</a:t>
            </a:r>
            <a:r>
              <a:rPr lang="en-US" dirty="0"/>
              <a:t> a </a:t>
            </a:r>
            <a:r>
              <a:rPr lang="en-US" dirty="0" err="1"/>
              <a:t>análise</a:t>
            </a:r>
            <a:r>
              <a:rPr lang="en-US" dirty="0"/>
              <a:t> de dados de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inteligentes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recomendações</a:t>
            </a:r>
            <a:r>
              <a:rPr lang="en-US" dirty="0"/>
              <a:t> de Marketing.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C55A977-9597-2DA9-3773-BA8EB3350C8D}"/>
              </a:ext>
            </a:extLst>
          </p:cNvPr>
          <p:cNvSpPr txBox="1">
            <a:spLocks/>
          </p:cNvSpPr>
          <p:nvPr/>
        </p:nvSpPr>
        <p:spPr>
          <a:xfrm>
            <a:off x="6309904" y="5707916"/>
            <a:ext cx="3229881" cy="472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400" b="1" i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Lucas Ida / Jan 2026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pt-BR"/>
            </a:defPPr>
          </a:lstStyle>
          <a:p>
            <a:pPr rtl="0"/>
            <a:r>
              <a:rPr lang="pt-BR" dirty="0"/>
              <a:t>Contexto</a:t>
            </a:r>
          </a:p>
          <a:p>
            <a:pPr rtl="0"/>
            <a:r>
              <a:rPr lang="pt-BR" dirty="0"/>
              <a:t>Perfil dos usuários</a:t>
            </a:r>
          </a:p>
          <a:p>
            <a:pPr rtl="0"/>
            <a:r>
              <a:rPr lang="pt-BR" dirty="0"/>
              <a:t>Atividade e eficiência do sono</a:t>
            </a:r>
          </a:p>
          <a:p>
            <a:pPr rtl="0"/>
            <a:r>
              <a:rPr lang="pt-BR" dirty="0"/>
              <a:t>Horários de pico de atividade</a:t>
            </a:r>
          </a:p>
          <a:p>
            <a:pPr rtl="0"/>
            <a:r>
              <a:rPr lang="pt-BR" dirty="0"/>
              <a:t>Recomendações de Marketing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Contexto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v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Forma Liv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4CF1970-EEEA-D2B4-6E7F-926DFB6CC49B}"/>
              </a:ext>
            </a:extLst>
          </p:cNvPr>
          <p:cNvSpPr txBox="1">
            <a:spLocks/>
          </p:cNvSpPr>
          <p:nvPr/>
        </p:nvSpPr>
        <p:spPr>
          <a:xfrm>
            <a:off x="968354" y="2729711"/>
            <a:ext cx="4490827" cy="1620557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Foi analisado os dados de dispositivos inteligentes de </a:t>
            </a:r>
            <a:r>
              <a:rPr lang="pt-BR" b="1" dirty="0"/>
              <a:t>30 usuários</a:t>
            </a:r>
            <a:r>
              <a:rPr lang="pt-BR" dirty="0"/>
              <a:t>.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92B80EA-A508-AFF2-1424-1C1D2C1A2AC7}"/>
              </a:ext>
            </a:extLst>
          </p:cNvPr>
          <p:cNvSpPr txBox="1">
            <a:spLocks/>
          </p:cNvSpPr>
          <p:nvPr/>
        </p:nvSpPr>
        <p:spPr>
          <a:xfrm>
            <a:off x="6031230" y="2670643"/>
            <a:ext cx="4490827" cy="1620557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O objetivo do estudo foi identificar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tendências</a:t>
            </a:r>
            <a:r>
              <a:rPr lang="pt-BR" dirty="0"/>
              <a:t> e como transformaríamos em insights de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marketing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2DF0F-EB21-D38A-123B-B718B2E7B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7E91F-CF18-34F7-8851-D8D577A0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Perfil dos Usuários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BD2E33-6D42-416E-C7A8-465C5FBEACE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139980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Identificamos que o perfil dos usuários que utilizam dispositivos inteligentes estão bem segmentados, de forma </a:t>
            </a:r>
            <a:r>
              <a:rPr lang="pt-BR" dirty="0">
                <a:solidFill>
                  <a:schemeClr val="accent3">
                    <a:lumMod val="50000"/>
                  </a:schemeClr>
                </a:solidFill>
              </a:rPr>
              <a:t>equilibrada</a:t>
            </a:r>
            <a:r>
              <a:rPr lang="pt-BR" dirty="0"/>
              <a:t>.</a:t>
            </a:r>
          </a:p>
        </p:txBody>
      </p:sp>
      <p:pic>
        <p:nvPicPr>
          <p:cNvPr id="8" name="Imagem 7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50154239-6C00-357A-A0A6-8DD494EC0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4" r="19728" b="20054"/>
          <a:stretch>
            <a:fillRect/>
          </a:stretch>
        </p:blipFill>
        <p:spPr>
          <a:xfrm>
            <a:off x="6257330" y="278129"/>
            <a:ext cx="5281686" cy="641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F1CAE0B-E905-8C29-DD3C-5E96119A6DAF}"/>
              </a:ext>
            </a:extLst>
          </p:cNvPr>
          <p:cNvSpPr/>
          <p:nvPr/>
        </p:nvSpPr>
        <p:spPr>
          <a:xfrm>
            <a:off x="429904" y="2818263"/>
            <a:ext cx="1443543" cy="3957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5" y="267390"/>
            <a:ext cx="5063490" cy="70099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Sono e Eficiência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13895" y="900148"/>
            <a:ext cx="5045075" cy="139980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Usuários que praticam atividades de </a:t>
            </a:r>
            <a:r>
              <a:rPr lang="pt-BR" dirty="0">
                <a:solidFill>
                  <a:srgbClr val="9E3A26"/>
                </a:solidFill>
              </a:rPr>
              <a:t>alta intensidade</a:t>
            </a:r>
            <a:r>
              <a:rPr lang="pt-BR" dirty="0"/>
              <a:t> dormem </a:t>
            </a:r>
            <a:r>
              <a:rPr lang="pt-BR" b="1" dirty="0"/>
              <a:t>menos</a:t>
            </a:r>
            <a:r>
              <a:rPr lang="pt-BR" dirty="0"/>
              <a:t> e com </a:t>
            </a:r>
            <a:r>
              <a:rPr lang="pt-BR" b="1" dirty="0"/>
              <a:t>menor</a:t>
            </a:r>
            <a:r>
              <a:rPr lang="pt-BR" dirty="0"/>
              <a:t> eficiência.</a:t>
            </a:r>
          </a:p>
        </p:txBody>
      </p:sp>
      <p:pic>
        <p:nvPicPr>
          <p:cNvPr id="10" name="Imagem 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5CCC4FCA-BA0A-A2DB-8D2C-C9A9B61C7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00"/>
          <a:stretch>
            <a:fillRect/>
          </a:stretch>
        </p:blipFill>
        <p:spPr>
          <a:xfrm>
            <a:off x="1665028" y="1962628"/>
            <a:ext cx="9075761" cy="4895372"/>
          </a:xfrm>
          <a:prstGeom prst="rect">
            <a:avLst/>
          </a:prstGeom>
        </p:spPr>
      </p:pic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id="{AFB6B3F9-AEF8-56C0-D8DD-A6860A7D0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5" y="900148"/>
            <a:ext cx="1443543" cy="25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65A5E-6257-9B7F-240D-561B8978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03DF3D4-6256-05B9-78AD-F54791A01F9E}"/>
              </a:ext>
            </a:extLst>
          </p:cNvPr>
          <p:cNvSpPr/>
          <p:nvPr/>
        </p:nvSpPr>
        <p:spPr>
          <a:xfrm>
            <a:off x="429904" y="2818263"/>
            <a:ext cx="2636025" cy="3957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126978-BA36-EDA7-1D68-34700316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5" y="267390"/>
            <a:ext cx="5063490" cy="70099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Passos por Horário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9B8C29-4231-0187-55FC-08E53DE905D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13895" y="900148"/>
            <a:ext cx="5045075" cy="139980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Usuários que praticam atividades em </a:t>
            </a:r>
            <a:r>
              <a:rPr lang="pt-BR" dirty="0">
                <a:solidFill>
                  <a:srgbClr val="9E3A26"/>
                </a:solidFill>
              </a:rPr>
              <a:t>alta intensidade</a:t>
            </a:r>
            <a:r>
              <a:rPr lang="pt-BR" dirty="0"/>
              <a:t> tem o pico de atividade entre 17h e 19h, comprometendo a </a:t>
            </a:r>
            <a:r>
              <a:rPr lang="pt-BR" b="1" dirty="0"/>
              <a:t>qualidade</a:t>
            </a:r>
            <a:r>
              <a:rPr lang="pt-BR" dirty="0"/>
              <a:t> do sono.</a:t>
            </a: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id="{0E82CF3F-EF80-56CD-22B6-590C5DC49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5" y="900148"/>
            <a:ext cx="1443543" cy="253714"/>
          </a:xfrm>
          <a:prstGeom prst="rect">
            <a:avLst/>
          </a:prstGeom>
        </p:spPr>
      </p:pic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517B3B63-9D5D-60B1-9393-46F82DCBB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24" y="2046040"/>
            <a:ext cx="9789458" cy="472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7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1EEF-A75D-F058-A683-EA61C611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8721C155-0352-C91B-E04E-B1708C16501C}"/>
              </a:ext>
            </a:extLst>
          </p:cNvPr>
          <p:cNvSpPr/>
          <p:nvPr/>
        </p:nvSpPr>
        <p:spPr>
          <a:xfrm>
            <a:off x="429904" y="2818263"/>
            <a:ext cx="2636025" cy="3957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16C7F6-E79E-ECCE-6E61-1A00FBB37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5" y="267390"/>
            <a:ext cx="8038434" cy="70099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Eficiência do Sono por Tempo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303BBB-FCB1-CACD-8316-154E9FB2584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13895" y="968387"/>
            <a:ext cx="5045075" cy="94637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Eficiência no sono possui uma pequena correlação com o tempo de sono.</a:t>
            </a: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id="{251D028E-08FE-B8AE-D211-20396DCA3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5" y="900148"/>
            <a:ext cx="1443543" cy="253714"/>
          </a:xfrm>
          <a:prstGeom prst="rect">
            <a:avLst/>
          </a:prstGeom>
        </p:spPr>
      </p:pic>
      <p:pic>
        <p:nvPicPr>
          <p:cNvPr id="6" name="Imagem 5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F2D96328-E630-7CE5-D339-E372BBD90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03" y="2032000"/>
            <a:ext cx="9713363" cy="4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3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0D702-A865-C289-F790-498AFE55C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1CF8F8C4-55AF-C2F5-85B7-15E0BB6B0074}"/>
              </a:ext>
            </a:extLst>
          </p:cNvPr>
          <p:cNvSpPr/>
          <p:nvPr/>
        </p:nvSpPr>
        <p:spPr>
          <a:xfrm>
            <a:off x="429904" y="2818263"/>
            <a:ext cx="2636025" cy="3957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A0024A-7889-EBBF-A0A4-6CB64ADD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5" y="267390"/>
            <a:ext cx="8038434" cy="70099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Geral</a:t>
            </a:r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id="{DCDE3964-DF7F-D075-FF53-8BFC6654B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5" y="900148"/>
            <a:ext cx="1443543" cy="253714"/>
          </a:xfrm>
          <a:prstGeom prst="rect">
            <a:avLst/>
          </a:prstGeom>
        </p:spPr>
      </p:pic>
      <p:pic>
        <p:nvPicPr>
          <p:cNvPr id="8" name="Imagem 7" descr="Gráfico&#10;&#10;O conteúdo gerado por IA pode estar incorreto.">
            <a:extLst>
              <a:ext uri="{FF2B5EF4-FFF2-40B4-BE49-F238E27FC236}">
                <a16:creationId xmlns:a16="http://schemas.microsoft.com/office/drawing/2014/main" id="{C5BDB329-6D0B-70CC-2AF9-22E49BB20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526" y="0"/>
            <a:ext cx="8574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11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Insights obtidos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1195028"/>
            <a:ext cx="5198269" cy="23050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Usuários que praticam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atividade intenso </a:t>
            </a:r>
            <a:r>
              <a:rPr lang="pt-BR" dirty="0"/>
              <a:t>dormem </a:t>
            </a:r>
            <a:r>
              <a:rPr lang="pt-BR" b="1" dirty="0"/>
              <a:t>menos</a:t>
            </a:r>
            <a:r>
              <a:rPr lang="pt-BR" dirty="0"/>
              <a:t> com </a:t>
            </a:r>
            <a:r>
              <a:rPr lang="pt-BR" b="1" dirty="0"/>
              <a:t>menor</a:t>
            </a:r>
            <a:r>
              <a:rPr lang="pt-BR" dirty="0"/>
              <a:t> qualidade</a:t>
            </a:r>
          </a:p>
          <a:p>
            <a:pPr rtl="0"/>
            <a:r>
              <a:rPr lang="pt-BR" dirty="0"/>
              <a:t>Tipos de perfis bem </a:t>
            </a:r>
            <a:r>
              <a:rPr lang="pt-BR" b="1" dirty="0"/>
              <a:t>distribuídos</a:t>
            </a:r>
          </a:p>
          <a:p>
            <a:pPr rtl="0"/>
            <a:r>
              <a:rPr lang="pt-BR" dirty="0"/>
              <a:t>Impacto do </a:t>
            </a:r>
            <a:r>
              <a:rPr lang="pt-BR" b="1" dirty="0"/>
              <a:t>horário</a:t>
            </a:r>
            <a:r>
              <a:rPr lang="pt-BR" dirty="0"/>
              <a:t> de treino na </a:t>
            </a:r>
            <a:r>
              <a:rPr lang="pt-BR" b="1" dirty="0"/>
              <a:t>qualidade</a:t>
            </a:r>
            <a:r>
              <a:rPr lang="pt-BR" dirty="0"/>
              <a:t> do sono</a:t>
            </a:r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B57A7954-48AA-9777-25AD-D670FE2D2FE2}"/>
              </a:ext>
            </a:extLst>
          </p:cNvPr>
          <p:cNvSpPr txBox="1">
            <a:spLocks/>
          </p:cNvSpPr>
          <p:nvPr/>
        </p:nvSpPr>
        <p:spPr>
          <a:xfrm>
            <a:off x="603885" y="3626224"/>
            <a:ext cx="6053903" cy="1416425"/>
          </a:xfrm>
          <a:prstGeom prst="rect">
            <a:avLst/>
          </a:prstGeom>
        </p:spPr>
        <p:txBody>
          <a:bodyPr vert="horz" lIns="0" tIns="274320" rIns="91440" bIns="45720" rtlCol="0">
            <a:normAutofit lnSpcReduction="10000"/>
          </a:bodyPr>
          <a:lstStyle>
            <a:defPPr>
              <a:defRPr lang="pt-BR"/>
            </a:defPPr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+mj-lt"/>
              <a:buAutoNum type="arabicPeriod"/>
              <a:defRPr lang="pt-B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+mj-lt"/>
              <a:buAutoNum type="alphaLcPeriod"/>
              <a:defRPr lang="pt-B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+mj-lt"/>
              <a:buAutoNum type="arabicParenR"/>
              <a:defRPr lang="pt-B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+mj-lt"/>
              <a:buNone/>
              <a:defRPr lang="pt-B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+mj-lt"/>
              <a:buAutoNum type="arabicPeriod"/>
              <a:defRPr lang="pt-B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A estratégia de Marketing deve ser voltado tanto para o público </a:t>
            </a:r>
            <a:r>
              <a:rPr lang="pt-BR" b="1" dirty="0">
                <a:solidFill>
                  <a:schemeClr val="accent3">
                    <a:lumMod val="50000"/>
                  </a:schemeClr>
                </a:solidFill>
              </a:rPr>
              <a:t>sedentário</a:t>
            </a:r>
            <a:r>
              <a:rPr lang="pt-BR" dirty="0"/>
              <a:t> que deseja melhorar de vida, quanto o público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ativo</a:t>
            </a:r>
            <a:r>
              <a:rPr lang="pt-BR" dirty="0"/>
              <a:t> que deseja ter um melhor acompanhamento de suas atividades e impactos.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Recomendações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5DF8D7-C0DC-A651-8D1A-2A0F1CB2A91D}"/>
              </a:ext>
            </a:extLst>
          </p:cNvPr>
          <p:cNvSpPr txBox="1"/>
          <p:nvPr/>
        </p:nvSpPr>
        <p:spPr>
          <a:xfrm>
            <a:off x="1226521" y="2688058"/>
            <a:ext cx="3209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2">
                    <a:lumMod val="50000"/>
                  </a:schemeClr>
                </a:solidFill>
              </a:rPr>
              <a:t>Público sedentário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41DD12D-8F1C-45CF-210A-6E947C2FC713}"/>
              </a:ext>
            </a:extLst>
          </p:cNvPr>
          <p:cNvSpPr txBox="1"/>
          <p:nvPr/>
        </p:nvSpPr>
        <p:spPr>
          <a:xfrm>
            <a:off x="7031318" y="2688058"/>
            <a:ext cx="3209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2">
                    <a:lumMod val="50000"/>
                  </a:schemeClr>
                </a:solidFill>
              </a:rPr>
              <a:t>Público ativo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5A4749-BAA0-FA8C-E7CE-A716B6E29BD6}"/>
              </a:ext>
            </a:extLst>
          </p:cNvPr>
          <p:cNvSpPr txBox="1"/>
          <p:nvPr/>
        </p:nvSpPr>
        <p:spPr>
          <a:xfrm>
            <a:off x="5769985" y="3429000"/>
            <a:ext cx="49816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Posicionar o aplicativo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</a:rPr>
              <a:t>Bellabeat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 não apenas como um monitor de performance, mas como um </a:t>
            </a:r>
            <a:r>
              <a:rPr lang="pt-BR" i="1" dirty="0">
                <a:solidFill>
                  <a:schemeClr val="bg2">
                    <a:lumMod val="25000"/>
                  </a:schemeClr>
                </a:solidFill>
              </a:rPr>
              <a:t>Consultor Inteligente de Recuperação, 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promovendo funcionalidades que detectem treinos tardios e recomendem rotinas de “</a:t>
            </a:r>
            <a:r>
              <a:rPr lang="pt-BR" b="1" dirty="0">
                <a:solidFill>
                  <a:schemeClr val="bg2">
                    <a:lumMod val="25000"/>
                  </a:schemeClr>
                </a:solidFill>
              </a:rPr>
              <a:t>higiene do sono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”, melhorando a </a:t>
            </a:r>
            <a:r>
              <a:rPr lang="pt-BR" dirty="0">
                <a:solidFill>
                  <a:schemeClr val="accent3">
                    <a:lumMod val="50000"/>
                  </a:schemeClr>
                </a:solidFill>
              </a:rPr>
              <a:t>qualidade do descanso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8139F7A-D640-AEE3-341B-E146250CE809}"/>
              </a:ext>
            </a:extLst>
          </p:cNvPr>
          <p:cNvSpPr txBox="1"/>
          <p:nvPr/>
        </p:nvSpPr>
        <p:spPr>
          <a:xfrm>
            <a:off x="453913" y="3350935"/>
            <a:ext cx="49816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Implementar mecanismos de </a:t>
            </a:r>
            <a:r>
              <a:rPr lang="pt-BR" b="1" dirty="0">
                <a:solidFill>
                  <a:schemeClr val="bg2">
                    <a:lumMod val="25000"/>
                  </a:schemeClr>
                </a:solidFill>
              </a:rPr>
              <a:t>gamificação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 e desafios de “pequenas vitórias” (ex.: meta de 5.000 passos), com mensagens que conectem movimento e </a:t>
            </a:r>
            <a:r>
              <a:rPr lang="pt-BR" dirty="0">
                <a:solidFill>
                  <a:schemeClr val="accent3">
                    <a:lumMod val="50000"/>
                  </a:schemeClr>
                </a:solidFill>
              </a:rPr>
              <a:t>benefícios imediatos 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(humor, disposição, qualidade do sono), aumentando engajamento e retenção.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719293"/>
            <a:ext cx="5486400" cy="984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42094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Lucas Ida</a:t>
            </a:r>
          </a:p>
          <a:p>
            <a:pPr rtl="0"/>
            <a:r>
              <a:rPr lang="pt-BR" dirty="0">
                <a:hlinkClick r:id="rId3"/>
              </a:rPr>
              <a:t>lucasken.ida@gmail.com</a:t>
            </a:r>
            <a:endParaRPr lang="pt-BR" dirty="0"/>
          </a:p>
          <a:p>
            <a:r>
              <a:rPr lang="pt-BR" dirty="0">
                <a:hlinkClick r:id="rId4"/>
              </a:rPr>
              <a:t>https://www.linkedin.com/in/lucasktida/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89_TF78853419_Win32" id="{854A30D2-9E34-488C-9C98-B452D2CBAD89}" vid="{DA39436B-3821-44D5-9B65-C78155AED97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{1B75B6C7-BFA5-4E07-8CD3-EBA1494B6F99}TFd3b75063-ff25-434d-b12c-efeaf07d16c313a04d44_win32-67ca2883bb17</Template>
  <TotalTime>68</TotalTime>
  <Words>331</Words>
  <Application>Microsoft Office PowerPoint</Application>
  <PresentationFormat>Widescreen</PresentationFormat>
  <Paragraphs>46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Personalizado</vt:lpstr>
      <vt:lpstr>Estudo de Caso Bellabeat</vt:lpstr>
      <vt:lpstr>Agenda</vt:lpstr>
      <vt:lpstr>Contexto</vt:lpstr>
      <vt:lpstr>Perfil dos Usuários</vt:lpstr>
      <vt:lpstr>Sono e Eficiência</vt:lpstr>
      <vt:lpstr>Passos por Horário</vt:lpstr>
      <vt:lpstr>Eficiência do Sono por Tempo</vt:lpstr>
      <vt:lpstr>Geral</vt:lpstr>
      <vt:lpstr>Insights obtidos</vt:lpstr>
      <vt:lpstr>Recomendações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KENZO TERAZZIN IDA</dc:creator>
  <cp:lastModifiedBy>LUCAS KENZO TERAZZIN IDA</cp:lastModifiedBy>
  <cp:revision>2</cp:revision>
  <dcterms:created xsi:type="dcterms:W3CDTF">2026-01-17T12:12:36Z</dcterms:created>
  <dcterms:modified xsi:type="dcterms:W3CDTF">2026-01-17T13:21:35Z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